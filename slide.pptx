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04C35D-D4D7-498B-A7E5-2F9AB88EA2D4}">
  <a:tblStyle styleId="{1B04C35D-D4D7-498B-A7E5-2F9AB88EA2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oppins-regular.fntdata"/><Relationship Id="rId16" Type="http://schemas.openxmlformats.org/officeDocument/2006/relationships/slide" Target="slides/slide10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a5c7a50b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a5c7a50bc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a5c7a50bc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a5c7a50b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10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9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23.png"/><Relationship Id="rId13" Type="http://schemas.openxmlformats.org/officeDocument/2006/relationships/image" Target="../media/image29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20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35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Relationship Id="rId7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Relationship Id="rId5" Type="http://schemas.openxmlformats.org/officeDocument/2006/relationships/image" Target="../media/image36.png"/><Relationship Id="rId6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20365" y="1583084"/>
            <a:ext cx="10151268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Optimizing RAG Systems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Real-Time Voice Assistants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262062" y="3236565"/>
            <a:ext cx="9667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Lato"/>
                <a:ea typeface="Lato"/>
                <a:cs typeface="Lato"/>
                <a:sym typeface="Lato"/>
              </a:rPr>
              <a:t>A Comparative Analysis of Retrieval Techniques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262062" y="4208115"/>
            <a:ext cx="9667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Alessio Bernardini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62062" y="4570065"/>
            <a:ext cx="9667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Department of Computer Science, University of Milan, Italy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262062" y="4874865"/>
            <a:ext cx="9667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alessio.bernardini@studenti.unimi.it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1428750" y="1566862"/>
            <a:ext cx="442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Processing Speed: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Voice assistants require extremely fast response times to maintain the fluidity and naturalness of the conversation.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428750" y="2675844"/>
            <a:ext cx="442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Time Constraint: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For the interaction to feel natural, the total processing time (ASR + STT + LLM + TTS) must not exceed 3–4 seconds.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428750" y="3786338"/>
            <a:ext cx="44292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System Latency: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Consequently, the information retrieval module (RAG) must operate with latencies strictly below 1 second.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428750" y="4790999"/>
            <a:ext cx="4429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Compromise: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main challenge is to maintain minimal latency without sacrificing the semantic accuracy that is vital for providing the user with the correct answer.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581150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69013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800626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805287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338137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 Definition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004887"/>
            <a:ext cx="11049000" cy="28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title="databas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719" y="3529268"/>
            <a:ext cx="707583" cy="707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title="singin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45072" y="2121601"/>
            <a:ext cx="616479" cy="616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title="equalize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28102" y="5070954"/>
            <a:ext cx="707598" cy="70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title="cpu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040671" y="3543491"/>
            <a:ext cx="821979" cy="8219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4"/>
          <p:cNvCxnSpPr>
            <a:endCxn id="107" idx="0"/>
          </p:cNvCxnSpPr>
          <p:nvPr/>
        </p:nvCxnSpPr>
        <p:spPr>
          <a:xfrm flipH="1">
            <a:off x="9451661" y="3173591"/>
            <a:ext cx="3300" cy="369900"/>
          </a:xfrm>
          <a:prstGeom prst="straightConnector1">
            <a:avLst/>
          </a:prstGeom>
          <a:noFill/>
          <a:ln cap="flat" cmpd="sng" w="8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4"/>
          <p:cNvCxnSpPr/>
          <p:nvPr/>
        </p:nvCxnSpPr>
        <p:spPr>
          <a:xfrm flipH="1">
            <a:off x="9451664" y="4448736"/>
            <a:ext cx="3300" cy="369900"/>
          </a:xfrm>
          <a:prstGeom prst="straightConnector1">
            <a:avLst/>
          </a:prstGeom>
          <a:noFill/>
          <a:ln cap="flat" cmpd="sng" w="8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4"/>
          <p:cNvCxnSpPr/>
          <p:nvPr/>
        </p:nvCxnSpPr>
        <p:spPr>
          <a:xfrm rot="10800000">
            <a:off x="8382848" y="3878277"/>
            <a:ext cx="507300" cy="9600"/>
          </a:xfrm>
          <a:prstGeom prst="straightConnector1">
            <a:avLst/>
          </a:prstGeom>
          <a:noFill/>
          <a:ln cap="flat" cmpd="sng" w="8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4"/>
          <p:cNvCxnSpPr/>
          <p:nvPr/>
        </p:nvCxnSpPr>
        <p:spPr>
          <a:xfrm flipH="1" rot="10800000">
            <a:off x="8374362" y="4011867"/>
            <a:ext cx="609000" cy="3600"/>
          </a:xfrm>
          <a:prstGeom prst="straightConnector1">
            <a:avLst/>
          </a:prstGeom>
          <a:noFill/>
          <a:ln cap="flat" cmpd="sng" w="8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4"/>
          <p:cNvSpPr txBox="1"/>
          <p:nvPr/>
        </p:nvSpPr>
        <p:spPr>
          <a:xfrm>
            <a:off x="9862649" y="2247858"/>
            <a:ext cx="957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75" lIns="77175" spcFirstLastPara="1" rIns="77175" wrap="square" tIns="7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ASR</a:t>
            </a:r>
            <a:endParaRPr b="1" i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9862649" y="3759137"/>
            <a:ext cx="9573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75" lIns="77175" spcFirstLastPara="1" rIns="77175" wrap="square" tIns="7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1" i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9873989" y="5186440"/>
            <a:ext cx="9573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75" lIns="77175" spcFirstLastPara="1" rIns="77175" wrap="square" tIns="7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TTS</a:t>
            </a:r>
            <a:endParaRPr b="1" i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331571" y="3187507"/>
            <a:ext cx="13137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75" lIns="77175" spcFirstLastPara="1" rIns="77175" wrap="square" tIns="7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PROCESS</a:t>
            </a:r>
            <a:endParaRPr b="1" i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821272" y="4805177"/>
            <a:ext cx="1502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75" lIns="77175" spcFirstLastPara="1" rIns="77175" wrap="square" tIns="7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TEXT-TO-SPEECH</a:t>
            </a:r>
            <a:endParaRPr b="1" i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8775924" y="2773931"/>
            <a:ext cx="1502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75" lIns="77175" spcFirstLastPara="1" rIns="77175" wrap="square" tIns="7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SPEECH</a:t>
            </a:r>
            <a:r>
              <a:rPr b="1" i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-TO-TEXT</a:t>
            </a:r>
            <a:endParaRPr b="1" i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937593" y="1429995"/>
            <a:ext cx="3980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Vocal Agent Pipeline</a:t>
            </a:r>
            <a:endParaRPr b="1" i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71612"/>
            <a:ext cx="5286375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71612"/>
            <a:ext cx="5286375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62025" y="18621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Research Question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62025" y="2547937"/>
            <a:ext cx="4505325" cy="1828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"What is the best retrieval technique that provides the optimal trade-off between quality and response speed for use in a real-time RAG system designed for voice assistants?"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724650" y="1862137"/>
            <a:ext cx="47307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Contribution</a:t>
            </a:r>
            <a:endParaRPr sz="2100">
              <a:solidFill>
                <a:srgbClr val="2563E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563E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724650" y="2547937"/>
            <a:ext cx="4505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answer this question, we have produced two fundamental results: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7581900" y="3309937"/>
            <a:ext cx="3648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RAG-DOCUMENT: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Development of a centralised architecture for efficient pipeline management and vector store creation.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7581900" y="4691062"/>
            <a:ext cx="3648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Benchmarking: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Systematic and rigorous evaluation of 10 state-of-the-art RAG techniques to identify their performance and latency.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5650" y="33242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5650" y="470535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571500" y="395287"/>
            <a:ext cx="116016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Question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571500" y="1062037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/>
        </p:nvSpPr>
        <p:spPr>
          <a:xfrm>
            <a:off x="1428750" y="1447800"/>
            <a:ext cx="44292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Service Manager: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core component that orchestrates the creation of the pipeline, from chunk loading to embedding generation.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428750" y="2543175"/>
            <a:ext cx="44292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Neo4j Database: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Maintains snapshots of all created vectorstores, enabling tracking and persistence of system state.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428750" y="3638550"/>
            <a:ext cx="44292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API Server: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Provides endpoints for dynamically managing the knowledge base (creation and modification of vector stores).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1428750" y="4733925"/>
            <a:ext cx="4429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MCP Server: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Acts as a secure access point for all conversational agents.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428750" y="5543550"/>
            <a:ext cx="44292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Caching System: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Keeps the most frequently used pipelines in RAM, loading others on demand to optimise memory and maintain low latency.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4620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55746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6528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74821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5557837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219075"/>
            <a:ext cx="116016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RAG-DOCUMENT architecture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885825"/>
            <a:ext cx="11049000" cy="28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6" title="serve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58755" y="3878956"/>
            <a:ext cx="500305" cy="500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title="databas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69149" y="5211319"/>
            <a:ext cx="560370" cy="5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title="robot-assista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42387" y="1599827"/>
            <a:ext cx="649390" cy="649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title="robot-assista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22055" y="1784535"/>
            <a:ext cx="649390" cy="649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title="robot-assista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462723" y="1784527"/>
            <a:ext cx="649390" cy="649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docum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017067" y="3501516"/>
            <a:ext cx="333976" cy="33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docum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017067" y="4032124"/>
            <a:ext cx="333976" cy="33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title="docum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017067" y="4562731"/>
            <a:ext cx="333976" cy="333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lora di blu l'immagine" id="159" name="Google Shape;159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285887" y="3681516"/>
            <a:ext cx="892872" cy="8928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6"/>
          <p:cNvCxnSpPr/>
          <p:nvPr/>
        </p:nvCxnSpPr>
        <p:spPr>
          <a:xfrm flipH="1">
            <a:off x="8655860" y="2314356"/>
            <a:ext cx="6600" cy="343500"/>
          </a:xfrm>
          <a:prstGeom prst="straightConnector1">
            <a:avLst/>
          </a:prstGeom>
          <a:noFill/>
          <a:ln cap="flat" cmpd="sng" w="78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16"/>
          <p:cNvCxnSpPr/>
          <p:nvPr/>
        </p:nvCxnSpPr>
        <p:spPr>
          <a:xfrm>
            <a:off x="7982993" y="2477892"/>
            <a:ext cx="307800" cy="273300"/>
          </a:xfrm>
          <a:prstGeom prst="straightConnector1">
            <a:avLst/>
          </a:prstGeom>
          <a:noFill/>
          <a:ln cap="flat" cmpd="sng" w="6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16"/>
          <p:cNvCxnSpPr/>
          <p:nvPr/>
        </p:nvCxnSpPr>
        <p:spPr>
          <a:xfrm flipH="1" rot="10800000">
            <a:off x="7656884" y="4134021"/>
            <a:ext cx="519000" cy="1500"/>
          </a:xfrm>
          <a:prstGeom prst="straightConnector1">
            <a:avLst/>
          </a:prstGeom>
          <a:noFill/>
          <a:ln cap="flat" cmpd="sng" w="6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16"/>
          <p:cNvCxnSpPr/>
          <p:nvPr/>
        </p:nvCxnSpPr>
        <p:spPr>
          <a:xfrm flipH="1" rot="10800000">
            <a:off x="8739970" y="4878136"/>
            <a:ext cx="3600" cy="279300"/>
          </a:xfrm>
          <a:prstGeom prst="straightConnector1">
            <a:avLst/>
          </a:prstGeom>
          <a:noFill/>
          <a:ln cap="flat" cmpd="sng" w="6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16"/>
          <p:cNvCxnSpPr/>
          <p:nvPr/>
        </p:nvCxnSpPr>
        <p:spPr>
          <a:xfrm flipH="1" rot="10800000">
            <a:off x="9267904" y="4120092"/>
            <a:ext cx="438000" cy="6000"/>
          </a:xfrm>
          <a:prstGeom prst="straightConnector1">
            <a:avLst/>
          </a:prstGeom>
          <a:noFill/>
          <a:ln cap="flat" cmpd="sng" w="6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6"/>
          <p:cNvCxnSpPr/>
          <p:nvPr/>
        </p:nvCxnSpPr>
        <p:spPr>
          <a:xfrm>
            <a:off x="9704344" y="4125490"/>
            <a:ext cx="4500" cy="428400"/>
          </a:xfrm>
          <a:prstGeom prst="straightConnector1">
            <a:avLst/>
          </a:prstGeom>
          <a:noFill/>
          <a:ln cap="flat" cmpd="sng" w="6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6"/>
          <p:cNvCxnSpPr/>
          <p:nvPr/>
        </p:nvCxnSpPr>
        <p:spPr>
          <a:xfrm>
            <a:off x="9704344" y="3674120"/>
            <a:ext cx="0" cy="442800"/>
          </a:xfrm>
          <a:prstGeom prst="straightConnector1">
            <a:avLst/>
          </a:prstGeom>
          <a:noFill/>
          <a:ln cap="flat" cmpd="sng" w="6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6"/>
          <p:cNvCxnSpPr/>
          <p:nvPr/>
        </p:nvCxnSpPr>
        <p:spPr>
          <a:xfrm>
            <a:off x="9704344" y="3683249"/>
            <a:ext cx="232500" cy="0"/>
          </a:xfrm>
          <a:prstGeom prst="straightConnector1">
            <a:avLst/>
          </a:prstGeom>
          <a:noFill/>
          <a:ln cap="flat" cmpd="sng" w="6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6"/>
          <p:cNvCxnSpPr/>
          <p:nvPr/>
        </p:nvCxnSpPr>
        <p:spPr>
          <a:xfrm>
            <a:off x="9704344" y="4123101"/>
            <a:ext cx="232500" cy="0"/>
          </a:xfrm>
          <a:prstGeom prst="straightConnector1">
            <a:avLst/>
          </a:prstGeom>
          <a:noFill/>
          <a:ln cap="flat" cmpd="sng" w="6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6"/>
          <p:cNvCxnSpPr/>
          <p:nvPr/>
        </p:nvCxnSpPr>
        <p:spPr>
          <a:xfrm>
            <a:off x="9704344" y="4547869"/>
            <a:ext cx="232500" cy="0"/>
          </a:xfrm>
          <a:prstGeom prst="straightConnector1">
            <a:avLst/>
          </a:prstGeom>
          <a:noFill/>
          <a:ln cap="flat" cmpd="sng" w="6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16"/>
          <p:cNvSpPr txBox="1"/>
          <p:nvPr/>
        </p:nvSpPr>
        <p:spPr>
          <a:xfrm>
            <a:off x="7153837" y="1427271"/>
            <a:ext cx="8847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275" lIns="83275" spcFirstLastPara="1" rIns="83275" wrap="square" tIns="83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1</a:t>
            </a:r>
            <a:endParaRPr b="1" i="1" sz="13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8286702" y="1197126"/>
            <a:ext cx="8847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275" lIns="83275" spcFirstLastPara="1" rIns="83275" wrap="square" tIns="83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2</a:t>
            </a:r>
            <a:endParaRPr b="1" i="1" sz="13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9419564" y="1402909"/>
            <a:ext cx="8847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275" lIns="83275" spcFirstLastPara="1" rIns="83275" wrap="square" tIns="83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3</a:t>
            </a:r>
            <a:endParaRPr b="1" i="1" sz="13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8425909" y="5816208"/>
            <a:ext cx="693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00" lIns="65200" spcFirstLastPara="1" rIns="65200" wrap="square" tIns="65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 Neo4j</a:t>
            </a:r>
            <a:endParaRPr b="1" i="1"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6962501" y="3607771"/>
            <a:ext cx="8928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00" lIns="65200" spcFirstLastPara="1" rIns="65200" wrap="square" tIns="65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Server</a:t>
            </a:r>
            <a:endParaRPr b="1" i="1"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16"/>
          <p:cNvCxnSpPr/>
          <p:nvPr/>
        </p:nvCxnSpPr>
        <p:spPr>
          <a:xfrm flipH="1">
            <a:off x="9027348" y="2478425"/>
            <a:ext cx="362100" cy="272100"/>
          </a:xfrm>
          <a:prstGeom prst="straightConnector1">
            <a:avLst/>
          </a:prstGeom>
          <a:noFill/>
          <a:ln cap="flat" cmpd="sng" w="6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6" name="Google Shape;176;p16" title="security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363050" y="2764256"/>
            <a:ext cx="649375" cy="6493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16"/>
          <p:cNvCxnSpPr/>
          <p:nvPr/>
        </p:nvCxnSpPr>
        <p:spPr>
          <a:xfrm>
            <a:off x="8727409" y="3435664"/>
            <a:ext cx="900" cy="224400"/>
          </a:xfrm>
          <a:prstGeom prst="straightConnector1">
            <a:avLst/>
          </a:prstGeom>
          <a:noFill/>
          <a:ln cap="flat" cmpd="sng" w="78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" name="Google Shape;178;p16"/>
          <p:cNvSpPr txBox="1"/>
          <p:nvPr/>
        </p:nvSpPr>
        <p:spPr>
          <a:xfrm>
            <a:off x="9022741" y="2869681"/>
            <a:ext cx="800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00" lIns="65200" spcFirstLastPara="1" rIns="65200" wrap="square" tIns="65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MCP </a:t>
            </a:r>
            <a:endParaRPr b="1" i="1"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1" i="1"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10431250" y="3535025"/>
            <a:ext cx="10752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00" lIns="65200" spcFirstLastPara="1" rIns="65200" wrap="square" tIns="65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Vectorstore 1</a:t>
            </a:r>
            <a:endParaRPr b="1" i="1"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10431250" y="4058262"/>
            <a:ext cx="10752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00" lIns="65200" spcFirstLastPara="1" rIns="65200" wrap="square" tIns="65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Vectorstore 2</a:t>
            </a:r>
            <a:endParaRPr b="1" i="1"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10431250" y="4581500"/>
            <a:ext cx="10752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00" lIns="65200" spcFirstLastPara="1" rIns="65200" wrap="square" tIns="65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Vectorstore 3</a:t>
            </a:r>
            <a:endParaRPr b="1" i="1" sz="10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8394926" y="4524295"/>
            <a:ext cx="1075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200" lIns="65200" spcFirstLastPara="1" rIns="65200" wrap="square" tIns="65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5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1" i="1" sz="12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62050"/>
            <a:ext cx="3429000" cy="561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162050"/>
            <a:ext cx="3429000" cy="561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162050"/>
            <a:ext cx="3429000" cy="561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866775" y="2105025"/>
            <a:ext cx="25203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Basic Techniques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66625" y="2799150"/>
            <a:ext cx="2838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Semantic Search: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Dense vector retrieval via embedding similarity.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866625" y="3771750"/>
            <a:ext cx="28386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Key-based (BM25):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Sparse retrieval based on term frequency and document relevance.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866625" y="4895550"/>
            <a:ext cx="28386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Hybrid Search: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Combination of semantic and keyword methods (score fusion).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4676775" y="2105025"/>
            <a:ext cx="29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Advanced Techniques</a:t>
            </a:r>
            <a:endParaRPr sz="1300"/>
          </a:p>
        </p:txBody>
      </p:sp>
      <p:sp>
        <p:nvSpPr>
          <p:cNvPr id="195" name="Google Shape;195;p17"/>
          <p:cNvSpPr txBox="1"/>
          <p:nvPr/>
        </p:nvSpPr>
        <p:spPr>
          <a:xfrm>
            <a:off x="4676700" y="2799150"/>
            <a:ext cx="28386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Relevant Segment Extraction: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Identifies clusters of contiguous chunks to maximise overall relevance.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4676700" y="4200650"/>
            <a:ext cx="28386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Parent Document Retrieval: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Retrieves small chunks for semantic accuracy, but returns larger portions of text (parents) to ensure greater contextual completeness.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8486775" y="2105025"/>
            <a:ext cx="21102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LLM-Enhanced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8486775" y="2799140"/>
            <a:ext cx="2838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Contextual Headers: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Additional description in chunks.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8486775" y="3513515"/>
            <a:ext cx="2838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Hierarchical Indices: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Multi-level filters.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8486775" y="4227890"/>
            <a:ext cx="2838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 Transforms: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 reformulation.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8486775" y="4942265"/>
            <a:ext cx="2838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Multi-Query RAG: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Semantic Variants.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8486775" y="5656640"/>
            <a:ext cx="2838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Reranking: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Surgical reordering of the top 20 results using LLM.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03" name="Google Shape;20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4954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1495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14954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571500" y="85725"/>
            <a:ext cx="116016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Candidate Techniques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571500" y="7524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571500" y="1302543"/>
            <a:ext cx="11049000" cy="5329237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18"/>
          <p:cNvGraphicFramePr/>
          <p:nvPr/>
        </p:nvGraphicFramePr>
        <p:xfrm>
          <a:off x="571500" y="13025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{1B04C35D-D4D7-498B-A7E5-2F9AB88EA2D4}</a:tableStyleId>
              </a:tblPr>
              <a:tblGrid>
                <a:gridCol w="3173750"/>
                <a:gridCol w="2870900"/>
                <a:gridCol w="3028800"/>
                <a:gridCol w="1975550"/>
              </a:tblGrid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Avg Pipeline Time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Avg Retriever Time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BM25Retriever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37.72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0.00076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82.50% (66/80)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ContextualHeaderRetriever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45.91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0.02001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62.50% (50/80)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HierarchicalRetriever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49.51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0.02085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65.00% (52/80)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HybridRetriever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0.02269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78.75% (63/80)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MultiQueryRetriever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47.21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0.65429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65.00% (52/80)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ParentDocumentRetriever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46.78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0.01861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86.25% (69/80)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QueryTransformRetriever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43.32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1.28019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56.25% (45/80)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RelevantSegmentRetriever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48.47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0.01542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37.50% (30/80)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RerankingRetriever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47.40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5.71086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88.75% (71/80)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SemanticRetriever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42.11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0.01738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67.50% (54/80)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18"/>
          <p:cNvSpPr/>
          <p:nvPr/>
        </p:nvSpPr>
        <p:spPr>
          <a:xfrm>
            <a:off x="571500" y="1783556"/>
            <a:ext cx="317375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71500" y="1312068"/>
            <a:ext cx="317375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3745259" y="1783556"/>
            <a:ext cx="287089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3745259" y="1312068"/>
            <a:ext cx="287089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616154" y="1783556"/>
            <a:ext cx="302880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616154" y="1312068"/>
            <a:ext cx="302880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9644955" y="1783556"/>
            <a:ext cx="197554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9644955" y="1312068"/>
            <a:ext cx="197554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571500" y="2278856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3745259" y="2278856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616154" y="2278856"/>
            <a:ext cx="3028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9644955" y="2278856"/>
            <a:ext cx="1975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571500" y="2759868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3745259" y="2759868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6616154" y="2759868"/>
            <a:ext cx="3028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9644955" y="2759868"/>
            <a:ext cx="1975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571500" y="3240881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3745259" y="3240881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6616154" y="3240881"/>
            <a:ext cx="3028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9644955" y="3240881"/>
            <a:ext cx="1975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571500" y="3721893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3745259" y="3721893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6616154" y="3721893"/>
            <a:ext cx="3028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9644955" y="3721893"/>
            <a:ext cx="1975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71500" y="4202906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3745259" y="4202906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6616154" y="4202906"/>
            <a:ext cx="3028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9644955" y="4202906"/>
            <a:ext cx="1975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571500" y="4683918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3745259" y="4683918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6616154" y="4683918"/>
            <a:ext cx="3028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9644955" y="4683918"/>
            <a:ext cx="1975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571500" y="5164931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3745259" y="5164931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6616154" y="5164931"/>
            <a:ext cx="3028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9644955" y="5164931"/>
            <a:ext cx="1975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571500" y="5645943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3745259" y="5645943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6616154" y="5645943"/>
            <a:ext cx="3028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9644955" y="5645943"/>
            <a:ext cx="1975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571500" y="6126956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3745259" y="6126956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6616154" y="6126956"/>
            <a:ext cx="3028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9644955" y="6126956"/>
            <a:ext cx="1975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571500" y="6603206"/>
            <a:ext cx="317375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3745259" y="6603206"/>
            <a:ext cx="287089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616154" y="6603206"/>
            <a:ext cx="302880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9644955" y="6603206"/>
            <a:ext cx="197554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571500" y="226218"/>
            <a:ext cx="116016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Experimental Results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571500" y="892968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"/>
          <p:cNvSpPr txBox="1"/>
          <p:nvPr/>
        </p:nvSpPr>
        <p:spPr>
          <a:xfrm>
            <a:off x="6334125" y="2195512"/>
            <a:ext cx="55506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Perfect Balance</a:t>
            </a:r>
            <a:endParaRPr sz="2100">
              <a:solidFill>
                <a:srgbClr val="2563E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563E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6334125" y="2738437"/>
            <a:ext cx="52863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Our research demonstrates that it is not necessary to resort to the most complex and computationally expensive techniques in order to achieve high accuracy.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6334125" y="3738562"/>
            <a:ext cx="52863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ParentDocumentRetriever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achieves near-optimal accuracy while maintaining minimal latency overhead (0.018s), making it the primary choice for the quality/time combination.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6334125" y="4738687"/>
            <a:ext cx="52863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BM25Retriever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impresses with its robustness and exceptional speed (0.00076s), making it the perfect choice for structured queries and documents dense with specific terminology.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571500" y="2262187"/>
            <a:ext cx="52863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86.25%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571500" y="3405187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ParentDocument Retriever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571500" y="4252912"/>
            <a:ext cx="52863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82.50%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571500" y="539591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BM25 Retriever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571500" y="571500"/>
            <a:ext cx="116016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Selected Candidates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 txBox="1"/>
          <p:nvPr/>
        </p:nvSpPr>
        <p:spPr>
          <a:xfrm>
            <a:off x="1047750" y="1912862"/>
            <a:ext cx="105729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Test Set Bias: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The 80 questions in the test set may partially favour keyword-based research due to their direct wording.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1047750" y="2556177"/>
            <a:ext cx="10572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Document Diversity: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While including manuals and Q&amp;As, it is necessary to expand the analysis to broader domains (e.g., complex conversational transcripts or highly technical documentation).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1047750" y="3365802"/>
            <a:ext cx="10572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Hybrid Approaches: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moderate performance of HybridRetriever indicates that simply combining scores is not enough to fully exploit the potential of hybrid technology.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1047750" y="4175427"/>
            <a:ext cx="10572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Adaptive Retrieval: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current system applies a single approach to all queries, lacking methods that dynamically select the best strategy based on the query.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1047750" y="4985052"/>
            <a:ext cx="10572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Multi-lingual Support: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evaluation focused primarily on English texts; further research is needed to test scalability across different languages.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87" name="Google Shape;2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9691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0464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80089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897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99339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 txBox="1"/>
          <p:nvPr/>
        </p:nvSpPr>
        <p:spPr>
          <a:xfrm>
            <a:off x="571500" y="571500"/>
            <a:ext cx="116016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Limitations of the Research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 txBox="1"/>
          <p:nvPr/>
        </p:nvSpPr>
        <p:spPr>
          <a:xfrm>
            <a:off x="571500" y="1420283"/>
            <a:ext cx="55506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Research Directions</a:t>
            </a:r>
            <a:endParaRPr sz="2100">
              <a:solidFill>
                <a:srgbClr val="2563E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563E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571500" y="2058450"/>
            <a:ext cx="54951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research offers practical guidance for adopting efficient RAG systems in voice assistants. To expand their potential, future work will include: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1428750" y="3048000"/>
            <a:ext cx="49779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Multilingual Integration: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Extend testing to datasets and queries in different languages to evaluate overall generalisation.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1428750" y="4009564"/>
            <a:ext cx="47625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Advanced Hybrid Models: 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Explore combination weights learned through machine learning and intelligent method selection at runtime.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1428750" y="4962839"/>
            <a:ext cx="47625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Deep Semantic Analysis: I</a:t>
            </a:r>
            <a:r>
              <a:rPr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nclude paraphrased, ambiguous, or contextually layered questions to thoroughly test semantic retrieval.</a:t>
            </a:r>
            <a:endParaRPr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303" name="Google Shape;3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307362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01403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920418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1"/>
          <p:cNvSpPr txBox="1"/>
          <p:nvPr/>
        </p:nvSpPr>
        <p:spPr>
          <a:xfrm>
            <a:off x="571500" y="238125"/>
            <a:ext cx="116016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Future Developments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71500" y="9048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1" title="1200x1200p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2025" y="1384725"/>
            <a:ext cx="5168475" cy="516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 txBox="1"/>
          <p:nvPr/>
        </p:nvSpPr>
        <p:spPr>
          <a:xfrm>
            <a:off x="2471400" y="1324600"/>
            <a:ext cx="7249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 for </a:t>
            </a:r>
            <a:r>
              <a:rPr b="1" lang="en-US" sz="6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your </a:t>
            </a:r>
            <a:r>
              <a:rPr b="1" lang="en-US" sz="6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attention !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571500" y="35814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Alessio Bernardini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571500" y="40671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alessio.bernardini@studenti.unimi.it</a:t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5619750" y="4638675"/>
            <a:ext cx="9525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2286000" y="4943475"/>
            <a:ext cx="76200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Special thanks to Increso for providing the opportunity, technical resources, and data necessary to develop and test the RAG-DOCUMENT system in a real business environment.</a:t>
            </a:r>
            <a:endParaRPr i="1" sz="13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3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